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ilda Display" charset="1" panose="02000000000000000000"/>
      <p:regular r:id="rId11"/>
    </p:embeddedFont>
    <p:embeddedFont>
      <p:font typeface="HK Grotesk Light" charset="1" panose="00000400000000000000"/>
      <p:regular r:id="rId12"/>
    </p:embeddedFont>
    <p:embeddedFont>
      <p:font typeface="HK Grotesk Bold" charset="1" panose="00000800000000000000"/>
      <p:regular r:id="rId13"/>
    </p:embeddedFont>
    <p:embeddedFont>
      <p:font typeface="HK Grotesk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521169" y="1761822"/>
            <a:ext cx="6886575" cy="233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23"/>
              </a:lnSpc>
            </a:pPr>
            <a:r>
              <a:rPr lang="en-US" sz="6023">
                <a:solidFill>
                  <a:srgbClr val="78A9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Proyecto Bimestral: Estadísticas de Programa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1169" y="4652527"/>
            <a:ext cx="6886575" cy="369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C6D9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Compiladores y Lenguajes</a:t>
            </a:r>
          </a:p>
          <a:p>
            <a:pPr algn="ctr">
              <a:lnSpc>
                <a:spcPts val="5880"/>
              </a:lnSpc>
            </a:pP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C6D9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Integrantes: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C6D9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Edison Quizhpe </a:t>
            </a:r>
          </a:p>
          <a:p>
            <a:pPr algn="ctr" marL="0" indent="0" lvl="0">
              <a:lnSpc>
                <a:spcPts val="5880"/>
              </a:lnSpc>
            </a:pPr>
            <a:r>
              <a:rPr lang="en-US" sz="4200">
                <a:solidFill>
                  <a:srgbClr val="C6D9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Byron Salazar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4675" y="632560"/>
            <a:ext cx="688657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</a:pPr>
            <a:r>
              <a:rPr lang="en-US" sz="2199">
                <a:solidFill>
                  <a:srgbClr val="C6D9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25 Noviembre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5809435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7"/>
                </a:lnTo>
                <a:lnTo>
                  <a:pt x="0" y="11904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79306">
            <a:off x="15011349" y="185166"/>
            <a:ext cx="4707301" cy="4254223"/>
          </a:xfrm>
          <a:custGeom>
            <a:avLst/>
            <a:gdLst/>
            <a:ahLst/>
            <a:cxnLst/>
            <a:rect r="r" b="b" t="t" l="l"/>
            <a:pathLst>
              <a:path h="4254223" w="4707301">
                <a:moveTo>
                  <a:pt x="0" y="0"/>
                </a:moveTo>
                <a:lnTo>
                  <a:pt x="4707301" y="0"/>
                </a:lnTo>
                <a:lnTo>
                  <a:pt x="4707301" y="4254223"/>
                </a:lnTo>
                <a:lnTo>
                  <a:pt x="0" y="4254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2188133" cy="2519447"/>
            <a:chOff x="0" y="0"/>
            <a:chExt cx="16250844" cy="33592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6250844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78A9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Objetivo del Proyecto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30537"/>
              <a:ext cx="16250844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Implementar un analizador en Flex que limpie el código fuente (ignorando comentarios) y extraiga estadísticas estructurales básicas.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4564786"/>
            <a:ext cx="1272691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Análisis de Requerimientos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9075" y="5945911"/>
            <a:ext cx="5448300" cy="2838450"/>
            <a:chOff x="0" y="0"/>
            <a:chExt cx="7264400" cy="3784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LImpieza de Codigo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55700"/>
              <a:ext cx="72644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 de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 i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no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ar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com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ios 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línea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(//)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oqu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co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ar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(/* ...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*/)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5945911"/>
            <a:ext cx="5448300" cy="2343150"/>
            <a:chOff x="0" y="0"/>
            <a:chExt cx="7264400" cy="31242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Tokens Numéricos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55700"/>
              <a:ext cx="72644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Identificac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ó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ex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clu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siva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úm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eros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ro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(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positi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y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neg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iv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)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20625" y="5945911"/>
            <a:ext cx="5448300" cy="1847850"/>
            <a:chOff x="0" y="0"/>
            <a:chExt cx="7264400" cy="24638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Mét</a:t>
              </a:r>
              <a:r>
                <a:rPr lang="en-US" b="true" sz="3000" strike="noStrike" u="none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</a:t>
              </a:r>
              <a:r>
                <a:rPr lang="en-US" b="true" sz="3000" strike="noStrike" u="none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ic</a:t>
              </a:r>
              <a:r>
                <a:rPr lang="en-US" b="true" sz="3000" strike="noStrike" u="none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as</a:t>
              </a:r>
              <a:r>
                <a:rPr lang="en-US" b="true" sz="3000" strike="noStrike" u="none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de Texto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155700"/>
              <a:ext cx="72644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 to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lín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eas, pala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y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cálculo de longitud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om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dio</a:t>
              </a:r>
              <a:r>
                <a:rPr lang="en-US" sz="3000" strike="noStrike" u="none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357374">
            <a:off x="13938078" y="5783866"/>
            <a:ext cx="4152550" cy="4114800"/>
          </a:xfrm>
          <a:custGeom>
            <a:avLst/>
            <a:gdLst/>
            <a:ahLst/>
            <a:cxnLst/>
            <a:rect r="r" b="b" t="t" l="l"/>
            <a:pathLst>
              <a:path h="4114800" w="4152550">
                <a:moveTo>
                  <a:pt x="0" y="0"/>
                </a:moveTo>
                <a:lnTo>
                  <a:pt x="4152550" y="0"/>
                </a:lnTo>
                <a:lnTo>
                  <a:pt x="41525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50494"/>
            <a:ext cx="16012919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78A9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Estructura del Archivo Flex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98219"/>
            <a:ext cx="12277725" cy="790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3514" b="true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 Definiciones:</a:t>
            </a:r>
          </a:p>
          <a:p>
            <a:pPr algn="l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Variables globales</a:t>
            </a: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s</a:t>
            </a: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implificadas: total_lineas, total_palabras, total_enteros.</a:t>
            </a:r>
          </a:p>
          <a:p>
            <a:pPr algn="l">
              <a:lnSpc>
                <a:spcPts val="4568"/>
              </a:lnSpc>
            </a:pPr>
            <a:r>
              <a:rPr lang="en-US" sz="3514" b="true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 </a:t>
            </a:r>
            <a:r>
              <a:rPr lang="en-US" sz="3514" b="true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Reglas (Patrones):</a:t>
            </a:r>
          </a:p>
          <a:p>
            <a:pPr algn="just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rioridad Alta: Las reglas de comentarios aparecen primero para descartar texto antes de analizarlo.</a:t>
            </a:r>
          </a:p>
          <a:p>
            <a:pPr algn="just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Conteo: Detección</a:t>
            </a: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\n p</a:t>
            </a: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ara líneas y [+-]?[0-9]+ para enteros.</a:t>
            </a:r>
          </a:p>
          <a:p>
            <a:pPr algn="just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Palabras: Acumulación de longitud</a:t>
            </a: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usando yyleng.</a:t>
            </a:r>
          </a:p>
          <a:p>
            <a:pPr algn="l">
              <a:lnSpc>
                <a:spcPts val="4568"/>
              </a:lnSpc>
            </a:pPr>
            <a:r>
              <a:rPr lang="en-US" sz="3514" b="true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 Main</a:t>
            </a:r>
            <a:r>
              <a:rPr lang="en-US" sz="3514" b="true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</a:t>
            </a:r>
          </a:p>
          <a:p>
            <a:pPr algn="l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Validación de argumentos (argc).</a:t>
            </a:r>
          </a:p>
          <a:p>
            <a:pPr algn="l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Apertura segura de archivo.</a:t>
            </a:r>
          </a:p>
          <a:p>
            <a:pPr algn="l" marL="758690" indent="-379345" lvl="1">
              <a:lnSpc>
                <a:spcPts val="4568"/>
              </a:lnSpc>
              <a:buFont typeface="Arial"/>
              <a:buChar char="•"/>
            </a:pPr>
            <a:r>
              <a:rPr lang="en-US" b="true" sz="3514">
                <a:solidFill>
                  <a:srgbClr val="C6D9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Reporte final en consola.</a:t>
            </a:r>
          </a:p>
          <a:p>
            <a:pPr algn="l" marL="0" indent="0" lvl="0">
              <a:lnSpc>
                <a:spcPts val="378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2884" cy="9377447"/>
            <a:chOff x="0" y="0"/>
            <a:chExt cx="22603846" cy="125032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22603846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78A9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Lógica de Expresiones Regulares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22603846" cy="10372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Ge</a:t>
              </a: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stión de Comentarios (La parte compleja):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</a:t>
              </a: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 utilizan patrones para "comerse" el texto no deseado: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//[^\n]* : Ignora todo hasta el salto de línea.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/\* ... \*/ : Ignora bloques de texto entre delimitadores.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Simplific</a:t>
              </a: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ación de Números: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Patrón [+-]?[0-9]+: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C6D9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  </a:t>
              </a: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[+-]?: El signo es opcional.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C6D9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  </a:t>
              </a: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[0-9]+: Uno o más dígitos obligatorios.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Optimización: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El carácter comodín . al final descarta cualquier símbolo irrelevante (puntos y comas, llaves) que no sea una palabra o número.</a:t>
              </a:r>
            </a:p>
            <a:p>
              <a:pPr algn="just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4162" y="1028700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78A9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Pruebas Scripts C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 esta sección, mostraremos cómo funciona el analizador léxico utilizando un script de prueba, validando su precisión y capacidad para manejar diferentes casos de código fuente.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Visualización práctica del analizador léxico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824162" y="5343492"/>
            <a:ext cx="12639675" cy="3914808"/>
            <a:chOff x="0" y="0"/>
            <a:chExt cx="16852900" cy="521974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78A9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Conclusiones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Este proyecto ha demostrado la importancia del </a:t>
              </a: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análisis léxico</a:t>
              </a:r>
              <a:r>
                <a:rPr lang="en-US" sz="3000">
                  <a:solidFill>
                    <a:srgbClr val="C6D9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en la programación, abordando desafíos técnicos y mejorando la comprensión del procesamiento de código fuente en C.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C6D9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Reflexiones sobre el análisis léxico en Flex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Proyecto Bimestral: Estadísticas de Programa</dc:description>
  <dc:identifier>DAG5iaQssg4</dc:identifier>
  <dcterms:modified xsi:type="dcterms:W3CDTF">2011-08-01T06:04:30Z</dcterms:modified>
  <cp:revision>1</cp:revision>
  <dc:title>Presentación - Proyecto Bimestral: Estadísticas de Programa</dc:title>
</cp:coreProperties>
</file>